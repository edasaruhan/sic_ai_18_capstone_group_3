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54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87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7860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Fikir slaydı: Problemi tanımlıyoruz. Amaç, kişinin anlık uygulama kullanım trendine bakarak proaktif bir erken uyarı vermek.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Literatürdeki iki örneği veriyoruz ve bizim modelin ayırt edici iki noktasını vurguluyoruz: uygulama bazlı ayrım ve uyarı-sonrası davranışı ölçen geri bildirim döngüsü.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 ve model seçimini gerekçelendiriyoruz: zaman serisi doğası gereği derin öğrenme, tablo verisinden farklı olarak zamansal hafıza gerektirir.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ce yatakta telefon kullanımı"/>
          <p:cNvPicPr>
            <a:picLocks noChangeAspect="1"/>
          </p:cNvPicPr>
          <p:nvPr/>
        </p:nvPicPr>
        <p:blipFill>
          <a:blip r:embed="rId3"/>
          <a:srcRect l="1515" r="151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A">
              <a:alpha val="62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1"/>
          <p:cNvSpPr/>
          <p:nvPr/>
        </p:nvSpPr>
        <p:spPr>
          <a:xfrm>
            <a:off x="812800" y="2863652"/>
            <a:ext cx="752157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FIKIR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3264892"/>
            <a:ext cx="7521575" cy="68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184"/>
              </a:lnSpc>
              <a:buNone/>
            </a:pPr>
            <a:r>
              <a:rPr lang="en-US" sz="4800" dirty="0">
                <a:solidFill>
                  <a:srgbClr val="F2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Screen2Sleep AI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12800" y="4075609"/>
            <a:ext cx="752157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tr-TR" sz="1600" dirty="0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</a:t>
            </a:r>
            <a:r>
              <a:rPr lang="en-US" sz="1600" dirty="0" err="1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</a:t>
            </a:r>
            <a:r>
              <a:rPr lang="en-US" sz="1600" dirty="0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yatmadan</a:t>
            </a:r>
            <a:r>
              <a:rPr lang="en-US" sz="1600" dirty="0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önceki</a:t>
            </a:r>
            <a:r>
              <a:rPr lang="en-US" sz="1600" dirty="0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bilinçsiz</a:t>
            </a:r>
            <a:r>
              <a:rPr lang="en-US" sz="1600" dirty="0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</a:t>
            </a:r>
            <a:r>
              <a:rPr lang="en-US" sz="1600" dirty="0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tüketimi</a:t>
            </a:r>
            <a:r>
              <a:rPr lang="en-US" sz="1600" dirty="0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uyku</a:t>
            </a:r>
            <a:r>
              <a:rPr lang="en-US" sz="1600" dirty="0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kalitemizi</a:t>
            </a:r>
            <a:r>
              <a:rPr lang="en-US" sz="1600" dirty="0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</a:t>
            </a:r>
            <a:r>
              <a:rPr lang="en-US" sz="1600" dirty="0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mental </a:t>
            </a:r>
            <a:r>
              <a:rPr lang="en-US" sz="1600" dirty="0" err="1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sağlığımızı</a:t>
            </a:r>
            <a:r>
              <a:rPr lang="en-US" sz="1600" dirty="0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</a:t>
            </a:r>
            <a:r>
              <a:rPr lang="tr-TR" sz="1600" dirty="0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ıl bozuyor? Bu uygulamadan uygulamaya ne şekilde ve ne kadar fark ediyor?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15975" y="4800104"/>
            <a:ext cx="7296150" cy="1241921"/>
          </a:xfrm>
          <a:prstGeom prst="roundRect">
            <a:avLst>
              <a:gd name="adj" fmla="val 9970"/>
            </a:avLst>
          </a:prstGeom>
          <a:solidFill>
            <a:srgbClr val="4CC9F0">
              <a:alpha val="16000"/>
            </a:srgbClr>
          </a:solidFill>
          <a:ln w="6350">
            <a:solidFill>
              <a:srgbClr val="4CC9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1098550" y="5031879"/>
            <a:ext cx="693293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JITAI · ANLIK ADAPTIF MÜDAHALE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98550" y="5227439"/>
            <a:ext cx="6932930" cy="60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i="1" dirty="0">
                <a:solidFill>
                  <a:srgbClr val="F2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"Şu an kısa video izlemeye devam edersen derin uykun %30 </a:t>
            </a:r>
            <a:r>
              <a:rPr lang="en-US" sz="1700" i="1" dirty="0" err="1">
                <a:solidFill>
                  <a:srgbClr val="F2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azala</a:t>
            </a:r>
            <a:r>
              <a:rPr lang="tr-TR" sz="1700" i="1" dirty="0">
                <a:solidFill>
                  <a:srgbClr val="F2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bilir</a:t>
            </a:r>
            <a:r>
              <a:rPr lang="en-US" sz="1700" i="1" dirty="0">
                <a:solidFill>
                  <a:srgbClr val="F2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cihazı bırakmalısın."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2800" y="6256040"/>
            <a:ext cx="148758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A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Screen2Sleep AI · 1 /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812800" y="6256040"/>
            <a:ext cx="148758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D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Screen2Sleep AI · 2 /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LITERATÜR &amp; YENILIKÇI YAKLAŞIMIMIZ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0769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F2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Sadece süre değil, hangi uygulama ve sonrasında neler oldu?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12800" y="1750000"/>
            <a:ext cx="491518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Giyilebilir Sensörler · Fitbit / Oura</a:t>
            </a:r>
            <a:endParaRPr lang="en-US" sz="1000" dirty="0">
              <a:solidFill>
                <a:schemeClr val="accent3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12800" y="2033200"/>
            <a:ext cx="4915186" cy="55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 </a:t>
            </a:r>
            <a:r>
              <a:rPr lang="en-US" sz="11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süresinin</a:t>
            </a:r>
            <a:r>
              <a:rPr lang="en-US" sz="11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HRV (Heart Rate Variability - Kalp </a:t>
            </a:r>
            <a:r>
              <a:rPr lang="en-US" sz="11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Atış</a:t>
            </a:r>
            <a:r>
              <a:rPr lang="en-US" sz="11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Hızı</a:t>
            </a:r>
            <a:r>
              <a:rPr lang="en-US" sz="11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Değişkenliği</a:t>
            </a:r>
            <a:r>
              <a:rPr lang="en-US" sz="11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1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</a:t>
            </a:r>
            <a:r>
              <a:rPr lang="en-US" sz="11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 (Rapid Eye Movement - </a:t>
            </a:r>
            <a:r>
              <a:rPr lang="en-US" sz="11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Hızlı</a:t>
            </a:r>
            <a:r>
              <a:rPr lang="en-US" sz="11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Göz</a:t>
            </a:r>
            <a:r>
              <a:rPr lang="en-US" sz="11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Hareketi</a:t>
            </a:r>
            <a:r>
              <a:rPr lang="en-US" sz="11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tr-TR" sz="11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uykusu</a:t>
            </a:r>
            <a:r>
              <a:rPr lang="en-US" sz="11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üzerindeki yıkıcı etkisini gösteren IoT araştırmaları.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2800" y="2669720"/>
            <a:ext cx="491518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Time2Stop · CHI 2024</a:t>
            </a:r>
            <a:endParaRPr lang="en-US" sz="1000" dirty="0">
              <a:solidFill>
                <a:schemeClr val="accent3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812800" y="2952920"/>
            <a:ext cx="491518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"Süren bitti" demek yerine, öğrenilmiş alışkanlığa göre açıklanabilir anlık uyarı vermek bağımlılığı azaltıyor.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2800" y="3689440"/>
            <a:ext cx="491518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NE, DEĞIL NE KADAR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2800" y="3990400"/>
            <a:ext cx="491518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ekran </a:t>
            </a:r>
            <a:r>
              <a:rPr lang="en-US" sz="13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süresi</a:t>
            </a: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yanıltıcı</a:t>
            </a:r>
            <a:r>
              <a:rPr lang="tr-TR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olabilir. M</a:t>
            </a:r>
            <a:r>
              <a:rPr lang="en-US" sz="13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odelimiz</a:t>
            </a: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sürenin hangi uygulamada</a:t>
            </a: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geçtiğini </a:t>
            </a:r>
            <a:r>
              <a:rPr lang="en-US" sz="13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ayırt</a:t>
            </a: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ediyor</a:t>
            </a:r>
            <a:r>
              <a:rPr lang="tr-TR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mesela </a:t>
            </a:r>
            <a:r>
              <a:rPr lang="en-US" sz="13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kısa</a:t>
            </a: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video ile mesajlaşmanın uyku üzerindeki etkisi </a:t>
            </a:r>
            <a:r>
              <a:rPr lang="en-US" sz="1300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</a:t>
            </a: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olmayabilir</a:t>
            </a: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2800" y="4978750"/>
            <a:ext cx="491518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KAPALI GERI BILDIRIM DÖNGÜSÜ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2800" y="5279710"/>
            <a:ext cx="491518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Uyarıdan sonra kullanıcı uygulamayı gerçekten bırakıyor mu </a:t>
            </a:r>
            <a:r>
              <a:rPr lang="tr-TR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takip edilir</a:t>
            </a: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bu sonuç modele geri beslenerek uyarılar kişiye göre </a:t>
            </a:r>
            <a:r>
              <a:rPr lang="en-US" sz="1300" b="1" dirty="0" err="1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zamanla</a:t>
            </a:r>
            <a:r>
              <a:rPr lang="en-US" sz="13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13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değişebilir</a:t>
            </a: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pic>
        <p:nvPicPr>
          <p:cNvPr id="16" name="Image 2"/>
          <p:cNvPicPr>
            <a:picLocks noChangeAspect="1"/>
          </p:cNvPicPr>
          <p:nvPr/>
        </p:nvPicPr>
        <p:blipFill>
          <a:blip r:embed="rId3"/>
          <a:srcRect l="3636" r="3636"/>
          <a:stretch/>
        </p:blipFill>
        <p:spPr>
          <a:xfrm>
            <a:off x="5871101" y="2354554"/>
            <a:ext cx="5825091" cy="3426525"/>
          </a:xfrm>
          <a:prstGeom prst="roundRect">
            <a:avLst>
              <a:gd name="adj" fmla="val 4000"/>
            </a:avLst>
          </a:prstGeom>
          <a:ln w="12700">
            <a:solidFill>
              <a:srgbClr val="2A3350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DATASET &amp; YAKLAŞIM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dirty="0">
                <a:solidFill>
                  <a:srgbClr val="12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Derin Öğrenme?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73845"/>
            <a:ext cx="5156200" cy="3964980"/>
          </a:xfrm>
          <a:prstGeom prst="roundRect">
            <a:avLst>
              <a:gd name="adj" fmla="val 3123"/>
            </a:avLst>
          </a:prstGeom>
          <a:solidFill>
            <a:srgbClr val="FFFFFF"/>
          </a:solidFill>
          <a:ln w="635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123950" y="2181820"/>
            <a:ext cx="46764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— GLOBEM (PHYSIONET)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3950" y="2547541"/>
            <a:ext cx="10126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2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23950" y="3070721"/>
            <a:ext cx="101262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katılımcı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8977" y="2547541"/>
            <a:ext cx="94367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2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yıl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8977" y="3070721"/>
            <a:ext cx="9436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boylamsal veri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01750" y="3418681"/>
            <a:ext cx="4493324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 uygulama kullanım logları</a:t>
            </a:r>
            <a:endParaRPr lang="en-US" sz="1300" dirty="0"/>
          </a:p>
          <a:p>
            <a:pPr marL="198120" indent="-155956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Fitbit uyku &amp; </a:t>
            </a:r>
            <a:r>
              <a:rPr lang="en-US" sz="1300" dirty="0" err="1">
                <a:solidFill>
                  <a:srgbClr val="333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kalp</a:t>
            </a:r>
            <a:r>
              <a:rPr lang="en-US" sz="1300" dirty="0">
                <a:solidFill>
                  <a:srgbClr val="333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333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hızı</a:t>
            </a:r>
            <a:r>
              <a:rPr lang="en-US" sz="1300" dirty="0">
                <a:solidFill>
                  <a:srgbClr val="333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verisi</a:t>
            </a:r>
            <a:endParaRPr lang="en-US" sz="1300" dirty="0"/>
          </a:p>
          <a:p>
            <a:pPr marL="198120" indent="-155956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Hedef: Uyku </a:t>
            </a:r>
            <a:r>
              <a:rPr lang="en-US" sz="1300" dirty="0" err="1">
                <a:solidFill>
                  <a:srgbClr val="333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Kalite</a:t>
            </a:r>
            <a:r>
              <a:rPr lang="en-US" sz="1300" dirty="0">
                <a:solidFill>
                  <a:srgbClr val="333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333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Puanı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29350" y="1870670"/>
            <a:ext cx="5149850" cy="3971330"/>
          </a:xfrm>
          <a:prstGeom prst="roundRect">
            <a:avLst>
              <a:gd name="adj" fmla="val 3198"/>
            </a:avLst>
          </a:prstGeom>
          <a:solidFill>
            <a:srgbClr val="12172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534150" y="2175470"/>
            <a:ext cx="46764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YAKLAŞIM — DERIN ÖĞRENME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4150" y="2566591"/>
            <a:ext cx="4676458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/ 1D-CNN: ardışık zaman serisini öğrenerek gece uyumadan önceki 2 saatlik kullanımın uyku üzerindeki etkisini tahmin eder.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4150" y="3601641"/>
            <a:ext cx="1174750" cy="695920"/>
          </a:xfrm>
          <a:prstGeom prst="roundRect">
            <a:avLst>
              <a:gd name="adj" fmla="val 12774"/>
            </a:avLst>
          </a:prstGeom>
          <a:solidFill>
            <a:srgbClr val="1E28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661150" y="3754041"/>
            <a:ext cx="92075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 Logları</a:t>
            </a:r>
            <a:endParaRPr lang="en-US" sz="1100" dirty="0"/>
          </a:p>
        </p:txBody>
      </p:sp>
      <p:pic>
        <p:nvPicPr>
          <p:cNvPr id="16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0500" y="3848001"/>
            <a:ext cx="304800" cy="2032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216900" y="3601641"/>
            <a:ext cx="1174750" cy="695920"/>
          </a:xfrm>
          <a:prstGeom prst="roundRect">
            <a:avLst>
              <a:gd name="adj" fmla="val 12774"/>
            </a:avLst>
          </a:prstGeom>
          <a:solidFill>
            <a:srgbClr val="4CC9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/>
          <p:nvPr/>
        </p:nvSpPr>
        <p:spPr>
          <a:xfrm>
            <a:off x="8343900" y="3754041"/>
            <a:ext cx="92075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/ 1D-CNN</a:t>
            </a:r>
            <a:endParaRPr lang="en-US" sz="1100" dirty="0"/>
          </a:p>
        </p:txBody>
      </p:sp>
      <p:pic>
        <p:nvPicPr>
          <p:cNvPr id="19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93250" y="3848001"/>
            <a:ext cx="304800" cy="2032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899650" y="3699371"/>
            <a:ext cx="1174750" cy="500360"/>
          </a:xfrm>
          <a:prstGeom prst="roundRect">
            <a:avLst>
              <a:gd name="adj" fmla="val 17767"/>
            </a:avLst>
          </a:prstGeom>
          <a:solidFill>
            <a:srgbClr val="1E28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7"/>
          <p:cNvSpPr/>
          <p:nvPr/>
        </p:nvSpPr>
        <p:spPr>
          <a:xfrm>
            <a:off x="10026650" y="3851771"/>
            <a:ext cx="92075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Uyku Tahmini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12800" y="6238280"/>
            <a:ext cx="16181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Screen2Sleep AI · 3 / 3</a:t>
            </a:r>
            <a:endParaRPr lang="en-US" sz="12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DFF58D5B-532C-7559-6383-7E900AB6C665}"/>
              </a:ext>
            </a:extLst>
          </p:cNvPr>
          <p:cNvSpPr/>
          <p:nvPr/>
        </p:nvSpPr>
        <p:spPr>
          <a:xfrm>
            <a:off x="1307084" y="4380290"/>
            <a:ext cx="4493324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2080"/>
              </a:lnSpc>
              <a:buSzPct val="100000"/>
              <a:buChar char="•"/>
            </a:pPr>
            <a:r>
              <a:rPr lang="tr-TR" sz="13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Erişim kısıtlı</a:t>
            </a:r>
            <a:endParaRPr lang="en-US" sz="13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344</Words>
  <Application>Microsoft Office PowerPoint</Application>
  <PresentationFormat>Widescreen</PresentationFormat>
  <Paragraphs>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Screen2Sleep AI</dc:title>
  <dc:subject>PptxGenJS Presentation</dc:subject>
  <dc:creator>PptxGenJS</dc:creator>
  <cp:lastModifiedBy>Yusufcan Özdemir</cp:lastModifiedBy>
  <cp:revision>12</cp:revision>
  <dcterms:created xsi:type="dcterms:W3CDTF">2026-09-24T15:22:16Z</dcterms:created>
  <dcterms:modified xsi:type="dcterms:W3CDTF">2026-09-24T15:59:20Z</dcterms:modified>
</cp:coreProperties>
</file>